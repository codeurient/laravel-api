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3" r:id="rId15"/>
    <p:sldId id="274" r:id="rId16"/>
    <p:sldId id="277" r:id="rId17"/>
    <p:sldId id="275" r:id="rId18"/>
    <p:sldId id="276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7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25" r:id="rId67"/>
    <p:sldId id="326" r:id="rId68"/>
    <p:sldId id="327" r:id="rId69"/>
    <p:sldId id="328" r:id="rId70"/>
    <p:sldId id="329" r:id="rId71"/>
    <p:sldId id="330" r:id="rId72"/>
    <p:sldId id="331" r:id="rId73"/>
    <p:sldId id="332" r:id="rId74"/>
    <p:sldId id="333" r:id="rId75"/>
    <p:sldId id="334" r:id="rId76"/>
    <p:sldId id="335" r:id="rId77"/>
    <p:sldId id="336" r:id="rId78"/>
    <p:sldId id="337" r:id="rId79"/>
    <p:sldId id="338" r:id="rId80"/>
    <p:sldId id="339" r:id="rId81"/>
    <p:sldId id="340" r:id="rId82"/>
    <p:sldId id="341" r:id="rId83"/>
    <p:sldId id="342" r:id="rId84"/>
    <p:sldId id="343" r:id="rId85"/>
    <p:sldId id="344" r:id="rId86"/>
    <p:sldId id="345" r:id="rId87"/>
    <p:sldId id="346" r:id="rId88"/>
    <p:sldId id="347" r:id="rId89"/>
    <p:sldId id="348" r:id="rId90"/>
    <p:sldId id="349" r:id="rId91"/>
    <p:sldId id="350" r:id="rId92"/>
    <p:sldId id="351" r:id="rId93"/>
    <p:sldId id="352" r:id="rId94"/>
    <p:sldId id="353" r:id="rId95"/>
    <p:sldId id="354" r:id="rId96"/>
    <p:sldId id="355" r:id="rId97"/>
    <p:sldId id="356" r:id="rId98"/>
    <p:sldId id="357" r:id="rId99"/>
    <p:sldId id="358" r:id="rId100"/>
    <p:sldId id="359" r:id="rId101"/>
    <p:sldId id="360" r:id="rId102"/>
    <p:sldId id="361" r:id="rId103"/>
    <p:sldId id="362" r:id="rId104"/>
    <p:sldId id="363" r:id="rId105"/>
    <p:sldId id="364" r:id="rId106"/>
    <p:sldId id="365" r:id="rId107"/>
    <p:sldId id="366" r:id="rId108"/>
    <p:sldId id="367" r:id="rId109"/>
    <p:sldId id="368" r:id="rId110"/>
    <p:sldId id="369" r:id="rId111"/>
    <p:sldId id="370" r:id="rId112"/>
    <p:sldId id="371" r:id="rId113"/>
    <p:sldId id="372" r:id="rId114"/>
    <p:sldId id="373" r:id="rId115"/>
    <p:sldId id="374" r:id="rId116"/>
    <p:sldId id="375" r:id="rId117"/>
    <p:sldId id="376" r:id="rId118"/>
    <p:sldId id="377" r:id="rId119"/>
    <p:sldId id="378" r:id="rId120"/>
    <p:sldId id="379" r:id="rId121"/>
    <p:sldId id="380" r:id="rId122"/>
    <p:sldId id="381" r:id="rId123"/>
    <p:sldId id="382" r:id="rId124"/>
    <p:sldId id="383" r:id="rId125"/>
    <p:sldId id="384" r:id="rId126"/>
    <p:sldId id="385" r:id="rId127"/>
    <p:sldId id="386" r:id="rId128"/>
    <p:sldId id="387" r:id="rId129"/>
    <p:sldId id="388" r:id="rId130"/>
    <p:sldId id="389" r:id="rId131"/>
    <p:sldId id="390" r:id="rId132"/>
    <p:sldId id="391" r:id="rId133"/>
    <p:sldId id="392" r:id="rId134"/>
    <p:sldId id="393" r:id="rId135"/>
    <p:sldId id="394" r:id="rId136"/>
    <p:sldId id="395" r:id="rId137"/>
    <p:sldId id="396" r:id="rId138"/>
    <p:sldId id="397" r:id="rId139"/>
    <p:sldId id="398" r:id="rId140"/>
    <p:sldId id="399" r:id="rId141"/>
    <p:sldId id="400" r:id="rId142"/>
    <p:sldId id="401" r:id="rId143"/>
    <p:sldId id="402" r:id="rId144"/>
    <p:sldId id="269" r:id="rId145"/>
    <p:sldId id="270" r:id="rId146"/>
    <p:sldId id="271" r:id="rId147"/>
    <p:sldId id="272" r:id="rId14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24" autoAdjust="0"/>
    <p:restoredTop sz="94660"/>
  </p:normalViewPr>
  <p:slideViewPr>
    <p:cSldViewPr snapToGrid="0">
      <p:cViewPr varScale="1">
        <p:scale>
          <a:sx n="75" d="100"/>
          <a:sy n="75" d="100"/>
        </p:scale>
        <p:origin x="108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presProps" Target="pres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viewProps" Target="view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4677E-545C-6B72-F57F-03DC8D2098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E21A3-0EB6-9BE8-D89F-A47D90AA38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39B56-4AB6-E5F7-F3B4-DFED71C00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073FB1-0001-3CA8-8A6F-1C477F990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F3F2E9-54B2-647C-2E05-957637FFA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592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AAFF4-BF59-4DA9-AC73-68BEE44B5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C0320-AD2E-3F03-315F-0AA60903A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34507-9391-ADA4-69EC-DAE31BBF0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FCA89C-BD56-2158-2898-DF550C2F7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A231A-C12C-E0CE-BA9B-C212210A9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040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B5CA1-C149-B867-E6F3-BE394AC00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F6795-FAF0-C1CF-8848-75C802B62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2E1679-1795-0B7F-F145-DC691B9C6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F07D-5D59-733A-AFF8-CCA32938A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E1FC0-89A7-72FD-E292-4069BC5D4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4131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EC56F-2E3E-EBD8-E1C5-550422F22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9E6FE-4736-01A2-3A19-0AB77C01F5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80275E-FED1-9635-E08D-B9DDA6D741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677466-070F-1C19-4273-AF59BDE9F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40C33-1CF0-655C-B1C6-E87910E24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D68AA-D568-9B10-2EC1-FD9106B5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4246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21AF6-7630-6F7D-ABAA-942887C31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9259E-D87B-9A3B-B5D1-917931F65D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074C44-5505-BB85-4BA4-8C29542206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05A779-1F7F-1471-ECB9-72FD49B61D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F0E525-0A16-A689-0404-94C11886A9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8D84AB-DEC5-8135-AF1C-A212531E0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1E7A01-F03C-47C9-EC3F-933679CA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DE37C8-D87D-8862-BB32-6F6AE066D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928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42A42-DDB8-B39E-4769-22A1B5277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09FC45-1687-5F0A-63D7-93F293B2E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801150-E1D6-D056-1189-A94A70205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D79773-D005-DAF2-F809-44C546E1A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09284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791DF3-2CE5-21A5-C802-2031312C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C6655A-B896-B7A4-C6C2-8EEC15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B6B56-07BB-C389-3A97-4F364EAC1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272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3A903-8B52-9E62-7AC5-C939D9AF2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3C003-765F-399E-96F8-ED1137E3F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E467B6-8305-CD6E-6AB2-28A2EC5927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1946E-B50F-F3F2-123A-A621F4031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AD39EA-9CA0-123F-ADC7-C2E7D5E17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2D6DE-7D3E-621F-5B64-3C0C0CD90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7887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C2726-CF64-6BEE-2E51-29D2C3AC4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E1CB3D-6DE3-050D-ED45-3F67D616FD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03A080-00C4-22A2-92E3-FA859D465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826817-A369-6E46-5907-2C2FF91BF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D873D8-C24B-940C-C154-F3849C6F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A10250-F8BE-A494-5C11-49F2D802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918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5313C-2F74-C019-1208-3397A1E2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8094A0-1459-131F-8762-D394600BE5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0C12D-FA72-25FF-523E-7E47C1B6A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B42DB-206E-D482-EEC4-E83B918BC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BF4F8-4F00-B9EB-4FE8-EB8184C78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9894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F6FC1C-BC9C-2707-5287-53F5FC8628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0EE23-208D-348F-1080-769C9F3B01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2EB4D-24D4-64F7-17AD-DF4B2B824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0CA6E-3363-2185-2378-25298FA22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C606A-43A8-F6D8-C91F-84C07E2EF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6206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7B8EB-17C1-522C-FE61-D4D0E6ED4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E3B656-56B2-0B1B-43DC-5B38F3FB66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212C4-4D5D-9B68-7303-9A64CCA982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0B43D-D9B9-4860-7D07-EC89BEC3CC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F1ED7-F99A-E03E-C75A-D5C6F65E02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077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api/posts?sort=created_at&amp;order=desc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api/posts?author_id=3&amp;status=published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5770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Laravel API üçün URL və Adlandırma Qaydaları</a:t>
            </a:r>
            <a:br>
              <a:rPr lang="az-Latn-AZ" sz="1400"/>
            </a:br>
            <a:br>
              <a:rPr lang="az-Latn-AZ" sz="1400"/>
            </a:br>
            <a:r>
              <a:rPr lang="az-Latn-AZ" sz="1400"/>
              <a:t>1) URL-lərdə kiçik hərflər və snake_case (user_profile) və ya kebab-case (user-profile) istifadə edin. </a:t>
            </a:r>
          </a:p>
          <a:p>
            <a:endParaRPr lang="az-Latn-AZ" sz="1400"/>
          </a:p>
          <a:p>
            <a:r>
              <a:rPr lang="az-Latn-AZ" sz="1400"/>
              <a:t>Çünki: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Kodun oxunaqlılığını artırır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Səhvlərin qarşısını alır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Bütün API boyunca eyni üslub istifadə edildikdə idarəsi daha asan olur</a:t>
            </a:r>
            <a:endParaRPr lang="az-Latn-AZ" sz="1400"/>
          </a:p>
          <a:p>
            <a:endParaRPr lang="az-Latn-AZ" sz="1400"/>
          </a:p>
          <a:p>
            <a:r>
              <a:rPr lang="az-Latn-AZ" sz="1400"/>
              <a:t>2) </a:t>
            </a:r>
            <a:r>
              <a:rPr lang="en-US" sz="1400"/>
              <a:t>URL-lərdə feil (verb) istifadə etməyin</a:t>
            </a:r>
            <a:r>
              <a:rPr lang="az-Latn-AZ" sz="1400"/>
              <a:t>. Məsələn:</a:t>
            </a:r>
          </a:p>
          <a:p>
            <a:pPr>
              <a:lnSpc>
                <a:spcPct val="150000"/>
              </a:lnSpc>
            </a:pPr>
            <a:r>
              <a:rPr lang="az-Latn-AZ" sz="1400"/>
              <a:t>❌ /api/getUser</a:t>
            </a:r>
          </a:p>
          <a:p>
            <a:pPr>
              <a:lnSpc>
                <a:spcPct val="150000"/>
              </a:lnSpc>
            </a:pPr>
            <a:r>
              <a:rPr lang="az-Latn-AZ" sz="1400"/>
              <a:t>✅ /api/users/{id}</a:t>
            </a:r>
            <a:br>
              <a:rPr lang="az-Latn-AZ" sz="1400"/>
            </a:br>
            <a:br>
              <a:rPr lang="az-Latn-AZ" sz="1400"/>
            </a:br>
            <a:r>
              <a:rPr lang="az-Latn-AZ" sz="1400"/>
              <a:t>3) Həmişə cəm (plural) isimlərdən istifadə edin. </a:t>
            </a:r>
            <a:r>
              <a:rPr lang="en-US" sz="1400"/>
              <a:t>Məsələn:</a:t>
            </a:r>
            <a:br>
              <a:rPr lang="az-Latn-AZ" sz="1400"/>
            </a:br>
            <a:r>
              <a:rPr lang="fi-FI" sz="1400"/>
              <a:t>❌ /api/user/1</a:t>
            </a:r>
            <a:endParaRPr lang="az-Latn-AZ" sz="1400"/>
          </a:p>
          <a:p>
            <a:pPr>
              <a:lnSpc>
                <a:spcPct val="150000"/>
              </a:lnSpc>
            </a:pPr>
            <a:r>
              <a:rPr lang="fi-FI" sz="1400"/>
              <a:t>✅ /api/users/1</a:t>
            </a:r>
          </a:p>
          <a:p>
            <a:pPr>
              <a:lnSpc>
                <a:spcPct val="150000"/>
              </a:lnSpc>
            </a:pPr>
            <a:br>
              <a:rPr lang="az-Latn-AZ" sz="1400"/>
            </a:br>
            <a:r>
              <a:rPr lang="en-US" sz="1400"/>
              <a:t>4) Aydın yollar yaradın. Məsələn:</a:t>
            </a:r>
            <a:br>
              <a:rPr lang="en-US" sz="1400"/>
            </a:br>
            <a:r>
              <a:rPr lang="en-US" sz="1400" b="1"/>
              <a:t>/api/users/{id}/posts </a:t>
            </a:r>
            <a:r>
              <a:rPr lang="en-US" sz="1400"/>
              <a:t>	         → bu URL göstərir ki, müəyyən istifadəçinin postlarıdır</a:t>
            </a:r>
          </a:p>
          <a:p>
            <a:pPr>
              <a:lnSpc>
                <a:spcPct val="150000"/>
              </a:lnSpc>
            </a:pPr>
            <a:r>
              <a:rPr lang="en-US" sz="1400" b="1"/>
              <a:t>/api/posts/{id}/comments  </a:t>
            </a:r>
            <a:r>
              <a:rPr lang="en-US" sz="1400"/>
              <a:t>→ bu URL göstərir ki, müəyyən postun şərhləridir</a:t>
            </a:r>
            <a:br>
              <a:rPr lang="en-US" sz="1400"/>
            </a:br>
            <a:endParaRPr lang="ru-RU" sz="140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36B2127-FACC-F275-B901-63C4F3EC41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6412" y="2100992"/>
            <a:ext cx="4944308" cy="465540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814421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Laravel API-də Request və Response Formatı</a:t>
            </a:r>
            <a:r>
              <a:rPr lang="az-Latn-AZ" sz="1400"/>
              <a:t>:</a:t>
            </a:r>
            <a:br>
              <a:rPr lang="az-Latn-AZ" sz="1400"/>
            </a:b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az-Latn-AZ" sz="1400"/>
              <a:t>Bütün request (sorğu) və response (cavab) məlumatlarını JSON formatında göndərin və qəbul edin. JSON formatı həm oxunaqlıdır, həm də bütün proqramlaşdırma dilləri tərəfindən dəstəklənir.</a:t>
            </a:r>
            <a:br>
              <a:rPr lang="az-Latn-AZ" sz="1400"/>
            </a:br>
            <a:endParaRPr lang="az-Latn-AZ" sz="1400"/>
          </a:p>
          <a:p>
            <a:r>
              <a:rPr lang="en-US" sz="1400"/>
              <a:t>Məsələn: Request (POST)</a:t>
            </a: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r>
              <a:rPr lang="en-US" sz="1400"/>
              <a:t>Məsələn: Response (GET)</a:t>
            </a:r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r>
              <a:rPr lang="en-US" sz="1400"/>
              <a:t>API istifadəçiyə səhv baş verdikdə də aydın məlumatlar verməlidir.</a:t>
            </a:r>
            <a:r>
              <a:rPr lang="az-Latn-AZ" sz="1400"/>
              <a:t>  Məsələn:</a:t>
            </a:r>
            <a:endParaRPr lang="ru-RU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7B0186-BFB2-0782-9B6B-BE0A2EF14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5430"/>
            <a:ext cx="2194560" cy="11098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E5B715-979D-C04F-7DB2-626F97F4A4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893101"/>
            <a:ext cx="2194560" cy="13231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62B6B0-B176-FA2E-0473-A474E3E35D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60052"/>
            <a:ext cx="2194560" cy="123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171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sz="1400"/>
              <a:t>B</a:t>
            </a:r>
            <a:r>
              <a:rPr lang="en-US" sz="1400"/>
              <a:t>əzəkli mötərizə </a:t>
            </a:r>
            <a:r>
              <a:rPr lang="en-US" sz="1400" b="1">
                <a:solidFill>
                  <a:srgbClr val="FF0000"/>
                </a:solidFill>
              </a:rPr>
              <a:t>{</a:t>
            </a:r>
            <a:r>
              <a:rPr lang="az-Latn-AZ" sz="1400" b="1">
                <a:solidFill>
                  <a:srgbClr val="FF0000"/>
                </a:solidFill>
              </a:rPr>
              <a:t> </a:t>
            </a:r>
            <a:r>
              <a:rPr lang="en-US" sz="1400" b="1">
                <a:solidFill>
                  <a:srgbClr val="FF0000"/>
                </a:solidFill>
              </a:rPr>
              <a:t>}</a:t>
            </a:r>
            <a:r>
              <a:rPr lang="en-US" sz="1400"/>
              <a:t> və kvadrat mötərizə </a:t>
            </a:r>
            <a:r>
              <a:rPr lang="en-US" sz="1400" b="1">
                <a:solidFill>
                  <a:srgbClr val="FF0000"/>
                </a:solidFill>
              </a:rPr>
              <a:t>[</a:t>
            </a:r>
            <a:r>
              <a:rPr lang="az-Latn-AZ" sz="1400" b="1">
                <a:solidFill>
                  <a:srgbClr val="FF0000"/>
                </a:solidFill>
              </a:rPr>
              <a:t> </a:t>
            </a:r>
            <a:r>
              <a:rPr lang="en-US" sz="1400" b="1">
                <a:solidFill>
                  <a:srgbClr val="FF0000"/>
                </a:solidFill>
              </a:rPr>
              <a:t>]</a:t>
            </a:r>
            <a:r>
              <a:rPr lang="en-US" sz="1400"/>
              <a:t> arasındakı fərq</a:t>
            </a:r>
            <a:endParaRPr lang="az-Latn-AZ" sz="1400"/>
          </a:p>
          <a:p>
            <a:endParaRPr lang="az-Latn-AZ" sz="14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JSON-da {} obyekt (object) üçün istifadə olunur.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Obyekt açar–dəyər (key–value) cütləri saxlayır.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Hər açar string olmalıdır və dəyər string, number, boolean, array və ya başqa bir obyekt ola bilər.</a:t>
            </a:r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JSON-da [] massiv (array) üçün istifadə olunur.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Massivdə sıralı dəyərlər olur, açar yoxdur.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Dəyərlər istənilən JSON tipində ola bilər: obyekt, string, number, boolean və s.</a:t>
            </a:r>
            <a:endParaRPr lang="az-Latn-AZ" sz="1400"/>
          </a:p>
          <a:p>
            <a:endParaRPr lang="ru-RU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B5654E-7BA2-EDB1-977F-62182BE18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98552"/>
            <a:ext cx="2309060" cy="1097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19CEEBD-A9C6-2523-1599-EF3F9E75D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54683"/>
            <a:ext cx="1684166" cy="224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003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/>
              <a:t>API Versioning (Versiyalaşdırma) – Niyə lazımdır?</a:t>
            </a:r>
          </a:p>
          <a:p>
            <a:endParaRPr lang="en-US" sz="16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API zamanla inkişaf edir: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yeni sahələr əlavə olunur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mövcud struktur dəyişir</a:t>
            </a:r>
          </a:p>
          <a:p>
            <a:endParaRPr lang="en-US" sz="1600"/>
          </a:p>
          <a:p>
            <a:r>
              <a:rPr lang="az-Latn-AZ" sz="1600"/>
              <a:t>B</a:t>
            </a:r>
            <a:r>
              <a:rPr lang="en-US" sz="1600"/>
              <a:t>əzən geriyə uyğun olmayan (breaking change) dəyişikliklər edilir</a:t>
            </a:r>
          </a:p>
          <a:p>
            <a:endParaRPr lang="en-US" sz="1600"/>
          </a:p>
          <a:p>
            <a:r>
              <a:rPr lang="en-US" sz="1600"/>
              <a:t>Versioning-in məqsədi köhnə müştərilərin (clients) işləməyə davam etməsini təmin etməkdir. Yəni API dəyişsə belə, əvvəlki istifadəçilər problem yaşamır. Bu yanaşma backward compatibility qorumaq üçün vacibdir.</a:t>
            </a:r>
            <a:endParaRPr lang="az-Latn-AZ" sz="1600"/>
          </a:p>
          <a:p>
            <a:endParaRPr lang="az-Latn-AZ" sz="1600"/>
          </a:p>
          <a:p>
            <a:endParaRPr lang="az-Latn-AZ" sz="1600"/>
          </a:p>
          <a:p>
            <a:r>
              <a:rPr lang="en-US" sz="1600"/>
              <a:t>Ən sadə və aydın üsul versiyanı URL daxilində göstərməkdir:</a:t>
            </a:r>
            <a:endParaRPr lang="az-Latn-AZ" sz="1600"/>
          </a:p>
          <a:p>
            <a:endParaRPr lang="az-Latn-AZ" sz="1600"/>
          </a:p>
          <a:p>
            <a:endParaRPr lang="az-Latn-AZ" sz="1600"/>
          </a:p>
          <a:p>
            <a:endParaRPr lang="az-Latn-AZ" sz="1600"/>
          </a:p>
          <a:p>
            <a:r>
              <a:rPr lang="en-US" sz="1600"/>
              <a:t>Strategiya (Best Practice)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Keçid dövründə bir neçə versiyanı paralel dəstəkləyin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Köhnə versiyanı dərhal silməyin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API istifadəçilərinə əvvəlcədən məlumat verin (deprecate)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Müəyyən müddətdən sonra köhnə versiyanı mərhələli şəkildə bağlayın</a:t>
            </a:r>
          </a:p>
          <a:p>
            <a:endParaRPr lang="en-US" sz="1600"/>
          </a:p>
          <a:p>
            <a:r>
              <a:rPr lang="en-US" sz="1600"/>
              <a:t>Məsələn: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v1 → köhnə, stabil, lakin yeni funksiyalar yoxdur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v2 → yeni struktur və imkanlar</a:t>
            </a:r>
            <a:endParaRPr lang="ru-RU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BE8506-70AE-08DD-E1F3-56C18B41A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680" y="2969882"/>
            <a:ext cx="4338320" cy="38881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6EBD0C-8884-9427-F94D-9086C8563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81261"/>
            <a:ext cx="1044030" cy="5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645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Statelessness (Vəziyyətsizlik Prinsipi)</a:t>
            </a:r>
            <a:endParaRPr lang="az-Latn-AZ"/>
          </a:p>
          <a:p>
            <a:endParaRPr lang="en-US"/>
          </a:p>
          <a:p>
            <a:r>
              <a:rPr lang="en-US"/>
              <a:t>Self-Contained Requests (Öz-özünü daşıyan sorğular)</a:t>
            </a:r>
          </a:p>
          <a:p>
            <a:endParaRPr lang="en-US"/>
          </a:p>
          <a:p>
            <a:r>
              <a:rPr lang="en-US"/>
              <a:t>API-yə göndərilən hər bir request onun işlənməsi üçün lazım olan bütün məlumatları özündə daşımalıdır: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authentication token (məsələn, JWT)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lazımi parametrlər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header-lər</a:t>
            </a:r>
          </a:p>
          <a:p>
            <a:endParaRPr lang="en-US"/>
          </a:p>
          <a:p>
            <a:r>
              <a:rPr lang="en-US"/>
              <a:t>Server əvvəlki request-ləri xatırlamamalıdır və onlara əsaslanmamalıdır.</a:t>
            </a:r>
          </a:p>
          <a:p>
            <a:endParaRPr lang="en-US"/>
          </a:p>
          <a:p>
            <a:r>
              <a:rPr lang="en-US"/>
              <a:t>Yəni:</a:t>
            </a:r>
            <a:r>
              <a:rPr lang="az-Latn-AZ"/>
              <a:t> </a:t>
            </a:r>
            <a:r>
              <a:rPr lang="en-US"/>
              <a:t>Server deməməlidir: “Bu istifadəçi dünən kim idi?”</a:t>
            </a:r>
            <a:r>
              <a:rPr lang="az-Latn-AZ"/>
              <a:t>  </a:t>
            </a:r>
            <a:r>
              <a:rPr lang="en-US"/>
              <a:t>Request özü deməlidir: “Mən kiməm və nə istəyirəm.”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C22230-5944-8774-5A50-AC5919B14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722" y="4228872"/>
            <a:ext cx="8291278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801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6232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Server-Side Session YOX</a:t>
            </a:r>
          </a:p>
          <a:p>
            <a:endParaRPr lang="en-US" sz="1400"/>
          </a:p>
          <a:p>
            <a:r>
              <a:rPr lang="en-US" sz="1400"/>
              <a:t>REST API-lərdə: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server tərəfdə session saxlanmır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istifadəçiyə aid vəziyyət (state) serverdə tutulmur</a:t>
            </a:r>
          </a:p>
          <a:p>
            <a:endParaRPr lang="en-US" sz="1400"/>
          </a:p>
          <a:p>
            <a:r>
              <a:rPr lang="en-US" sz="1400"/>
              <a:t>Əvəzində: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Client (frontend, mobil tətbiq və s.)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Hər request ilə birlikdə JWT və ya başqa token göndərir</a:t>
            </a:r>
          </a:p>
          <a:p>
            <a:endParaRPr lang="en-US" sz="1400"/>
          </a:p>
          <a:p>
            <a:r>
              <a:rPr lang="en-US" sz="1400" b="1"/>
              <a:t>Məsələn</a:t>
            </a:r>
            <a:r>
              <a:rPr lang="en-US" sz="1400"/>
              <a:t>:</a:t>
            </a:r>
            <a:r>
              <a:rPr lang="az-Latn-AZ" sz="1400"/>
              <a:t> Authorization: Bearer eyJhbGciOiJIUzI1NiIsInR5cCI6IkpXVCJ9...</a:t>
            </a:r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r>
              <a:rPr lang="en-US" sz="1400" b="1"/>
              <a:t>Gündəlik həyat nümunəsi</a:t>
            </a:r>
            <a:r>
              <a:rPr lang="az-Latn-AZ" sz="1400" b="1"/>
              <a:t>. </a:t>
            </a:r>
            <a:r>
              <a:rPr lang="en-US" sz="1400" b="1"/>
              <a:t>Bankomatı düşün</a:t>
            </a:r>
            <a:r>
              <a:rPr lang="en-US" sz="140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Kartı salırsan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Şifrəni daxil edirsən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HƏR əməliyyatda kart + şifrə lazımdır</a:t>
            </a:r>
          </a:p>
          <a:p>
            <a:endParaRPr lang="en-US" sz="1400"/>
          </a:p>
          <a:p>
            <a:r>
              <a:rPr lang="en-US" sz="1400"/>
              <a:t>Bankomat səni yadda saxlamır ki, “bu az əvvəl </a:t>
            </a:r>
            <a:br>
              <a:rPr lang="az-Latn-AZ" sz="1400"/>
            </a:br>
            <a:r>
              <a:rPr lang="en-US" sz="1400"/>
              <a:t>gəlmişdi”.</a:t>
            </a:r>
            <a:r>
              <a:rPr lang="az-Latn-AZ" sz="1400"/>
              <a:t> </a:t>
            </a:r>
            <a:r>
              <a:rPr lang="en-US" sz="1400"/>
              <a:t>REST API də eyn</a:t>
            </a:r>
            <a:r>
              <a:rPr lang="az-Latn-AZ" sz="1400"/>
              <a:t>ən belədir</a:t>
            </a:r>
            <a:r>
              <a:rPr lang="en-US" sz="1400"/>
              <a:t>.</a:t>
            </a:r>
            <a:endParaRPr lang="ru-RU" sz="14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0EA08E-1DF8-DD4C-B2A0-ACD0E4B23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722" y="4228872"/>
            <a:ext cx="8291278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89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REST API-də</a:t>
            </a:r>
            <a:r>
              <a:rPr lang="az-Latn-AZ"/>
              <a:t> də</a:t>
            </a:r>
            <a:r>
              <a:rPr lang="en-US"/>
              <a:t> server istifadəçini yadda saxlamır; hər dəfə client serverə müraciət edəndə, “mən kiməm” deyə özünü token (məsələn, JWT) ilə yenidən tanıdır.</a:t>
            </a:r>
            <a:endParaRPr lang="az-Latn-AZ"/>
          </a:p>
          <a:p>
            <a:endParaRPr lang="az-Latn-AZ"/>
          </a:p>
          <a:p>
            <a:r>
              <a:rPr lang="en-US"/>
              <a:t>Hər dəfə sorğu göndərəndə: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client deyir: “mən buyam” (JWT token)</a:t>
            </a:r>
          </a:p>
          <a:p>
            <a:endParaRPr lang="en-US"/>
          </a:p>
          <a:p>
            <a:r>
              <a:rPr lang="en-US"/>
              <a:t>Server baxır: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token düzdür → icazə verir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token yoxdursa → icazə vermir</a:t>
            </a:r>
            <a:endParaRPr lang="az-Latn-AZ"/>
          </a:p>
          <a:p>
            <a:endParaRPr lang="az-Latn-AZ"/>
          </a:p>
          <a:p>
            <a:r>
              <a:rPr lang="en-US"/>
              <a:t>REST API-də server istifadəçini yox, göndərilən token-i tanıyır.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821A4EE-FB4F-5901-EAA1-1E6E12E5D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722" y="4228872"/>
            <a:ext cx="8291278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560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Niyə Stateless API daha üstündür? (Faydaları)</a:t>
            </a:r>
          </a:p>
          <a:p>
            <a:endParaRPr lang="en-US"/>
          </a:p>
          <a:p>
            <a:r>
              <a:rPr lang="en-US"/>
              <a:t>🔹 Scalability (Miqyaslana bilmə)</a:t>
            </a:r>
          </a:p>
          <a:p>
            <a:r>
              <a:rPr lang="en-US"/>
              <a:t>İstənilən server istənilən request-i emal edə bilər. Load balancer üçün idealdır.</a:t>
            </a:r>
          </a:p>
          <a:p>
            <a:endParaRPr lang="en-US"/>
          </a:p>
          <a:p>
            <a:r>
              <a:rPr lang="en-US"/>
              <a:t>🔹 Sadəlik (Simplicity)</a:t>
            </a:r>
          </a:p>
          <a:p>
            <a:r>
              <a:rPr lang="en-US"/>
              <a:t>Session yaratmaq, saxlamaq, silmək kimi əlavə yük yoxdur.</a:t>
            </a:r>
          </a:p>
          <a:p>
            <a:endParaRPr lang="en-US"/>
          </a:p>
          <a:p>
            <a:r>
              <a:rPr lang="en-US"/>
              <a:t>🔹 Caching (Keşləmə)</a:t>
            </a:r>
          </a:p>
          <a:p>
            <a:r>
              <a:rPr lang="en-US"/>
              <a:t>Eyni request eyni cavabı verdiyi üçün cavabları cache etmək daha asandır.</a:t>
            </a:r>
          </a:p>
          <a:p>
            <a:endParaRPr lang="en-US"/>
          </a:p>
          <a:p>
            <a:r>
              <a:rPr lang="en-US"/>
              <a:t>🔹 Etibarlılıq (Reliability)</a:t>
            </a:r>
          </a:p>
          <a:p>
            <a:r>
              <a:rPr lang="en-US"/>
              <a:t>Server restart olsa belə, heç bir session məlumatı itmir.</a:t>
            </a:r>
            <a:endParaRPr lang="az-Latn-AZ"/>
          </a:p>
          <a:p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C572454-293D-A796-D196-BC0A43640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722" y="4228872"/>
            <a:ext cx="8291278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71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REST API-də endpoint-i çirkləndirmədən (yeni URL-lər yaratmadan) məlumatı idarə etmək üçün query parameter-lərdən istifadə edirik.</a:t>
            </a:r>
            <a:endParaRPr lang="az-Latn-AZ"/>
          </a:p>
          <a:p>
            <a:endParaRPr lang="az-Latn-AZ"/>
          </a:p>
          <a:p>
            <a:r>
              <a:rPr lang="en-US" b="1"/>
              <a:t>Pagination (Səhifələmə)</a:t>
            </a:r>
            <a:r>
              <a:rPr lang="az-Latn-AZ" b="1"/>
              <a:t> </a:t>
            </a:r>
            <a:r>
              <a:rPr lang="en-US" b="1"/>
              <a:t>Problem</a:t>
            </a:r>
            <a:r>
              <a:rPr lang="az-Latn-AZ" b="1"/>
              <a:t>i</a:t>
            </a:r>
            <a:r>
              <a:rPr lang="en-US" b="1"/>
              <a:t>:</a:t>
            </a:r>
            <a:endParaRPr lang="az-Latn-AZ" b="1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Minlərlə məlumatı bir dəfə göndərmək</a:t>
            </a:r>
            <a:r>
              <a:rPr lang="az-Latn-AZ"/>
              <a:t> həm </a:t>
            </a:r>
            <a:r>
              <a:rPr lang="en-US"/>
              <a:t>yavaşdır</a:t>
            </a:r>
            <a:r>
              <a:rPr lang="az-Latn-AZ"/>
              <a:t> həmdə </a:t>
            </a:r>
            <a:r>
              <a:rPr lang="en-US"/>
              <a:t>interneti yükləyir</a:t>
            </a:r>
            <a:r>
              <a:rPr lang="az-Latn-AZ"/>
              <a:t>.</a:t>
            </a:r>
            <a:br>
              <a:rPr lang="az-Latn-AZ"/>
            </a:br>
            <a:endParaRPr lang="en-US"/>
          </a:p>
          <a:p>
            <a:r>
              <a:rPr lang="en-US" b="1"/>
              <a:t>Həll:</a:t>
            </a:r>
            <a:endParaRPr lang="az-Latn-AZ" b="1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Məlumatı hissə-hissə göndəririk.</a:t>
            </a:r>
            <a:r>
              <a:rPr lang="az-Latn-AZ"/>
              <a:t> Məsələn</a:t>
            </a:r>
            <a:r>
              <a:rPr lang="en-US"/>
              <a:t>: </a:t>
            </a:r>
            <a:r>
              <a:rPr lang="en-US" b="1" i="1"/>
              <a:t>/api/posts?page=2&amp;per_page=10</a:t>
            </a:r>
            <a:endParaRPr lang="az-Latn-AZ" b="1" i="1"/>
          </a:p>
          <a:p>
            <a:endParaRPr lang="az-Latn-AZ"/>
          </a:p>
          <a:p>
            <a:r>
              <a:rPr lang="en-US" b="1"/>
              <a:t>Mənası</a:t>
            </a:r>
            <a:r>
              <a:rPr lang="en-US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page=2 </a:t>
            </a:r>
            <a:r>
              <a:rPr lang="en-US"/>
              <a:t>→ 2-ci səhifə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per_page=10 </a:t>
            </a:r>
            <a:r>
              <a:rPr lang="en-US"/>
              <a:t>→ hər səhifədə 10 məlumat</a:t>
            </a:r>
            <a:endParaRPr lang="az-Latn-AZ"/>
          </a:p>
          <a:p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1A4F28-5A84-56A1-3E51-3A94899AB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422" y="2438400"/>
            <a:ext cx="5384578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366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Sorting (Sıralama)</a:t>
            </a:r>
            <a:endParaRPr lang="az-Latn-AZ"/>
          </a:p>
          <a:p>
            <a:endParaRPr lang="az-Latn-AZ"/>
          </a:p>
          <a:p>
            <a:r>
              <a:rPr lang="en-US"/>
              <a:t>Məlumatın hansı qaydada gələcəyini client özü seçsi</a:t>
            </a:r>
            <a:r>
              <a:rPr lang="az-Latn-AZ"/>
              <a:t>r</a:t>
            </a:r>
            <a:r>
              <a:rPr lang="en-US"/>
              <a:t>.</a:t>
            </a:r>
            <a:r>
              <a:rPr lang="az-Latn-AZ"/>
              <a:t> Məsələn: </a:t>
            </a:r>
            <a:r>
              <a:rPr lang="az-Latn-AZ">
                <a:hlinkClick r:id="rId2"/>
              </a:rPr>
              <a:t>http://api/posts?sort=created_at&amp;order=desc</a:t>
            </a:r>
            <a:endParaRPr lang="az-Latn-AZ"/>
          </a:p>
          <a:p>
            <a:endParaRPr lang="az-Latn-AZ"/>
          </a:p>
          <a:p>
            <a:r>
              <a:rPr lang="az-Latn-AZ"/>
              <a:t>Mənası: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b="1"/>
              <a:t>sort=created_at </a:t>
            </a:r>
            <a:r>
              <a:rPr lang="az-Latn-AZ"/>
              <a:t>→ yaradılma tarixinə görə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b="1"/>
              <a:t>order=desc </a:t>
            </a:r>
            <a:r>
              <a:rPr lang="az-Latn-AZ"/>
              <a:t>→ yenidən köhnəyə</a:t>
            </a:r>
          </a:p>
          <a:p>
            <a:endParaRPr lang="az-Latn-AZ"/>
          </a:p>
          <a:p>
            <a:endParaRPr lang="az-Latn-AZ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EA133A-FA8C-B5F2-608F-FC992D7A9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422" y="2438400"/>
            <a:ext cx="5384578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340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Filtering (Filtrləmə)</a:t>
            </a:r>
            <a:endParaRPr lang="az-Latn-AZ"/>
          </a:p>
          <a:p>
            <a:endParaRPr lang="az-Latn-AZ"/>
          </a:p>
          <a:p>
            <a:r>
              <a:rPr lang="en-US"/>
              <a:t>Lazımsız məlumatları yox, dəqiq axtarılanları almaq.</a:t>
            </a:r>
            <a:r>
              <a:rPr lang="az-Latn-AZ"/>
              <a:t> Məsələn: </a:t>
            </a:r>
            <a:r>
              <a:rPr lang="az-Latn-AZ">
                <a:hlinkClick r:id="rId2"/>
              </a:rPr>
              <a:t>http://api/posts?author_id=3&amp;status=published</a:t>
            </a:r>
            <a:endParaRPr lang="az-Latn-AZ"/>
          </a:p>
          <a:p>
            <a:endParaRPr lang="az-Latn-AZ"/>
          </a:p>
          <a:p>
            <a:r>
              <a:rPr lang="az-Latn-AZ"/>
              <a:t>Mənası: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b="1"/>
              <a:t>author_id=3 </a:t>
            </a:r>
            <a:r>
              <a:rPr lang="az-Latn-AZ"/>
              <a:t>→ müəllifi 3 olan postlar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b="1"/>
              <a:t>status=published </a:t>
            </a:r>
            <a:r>
              <a:rPr lang="az-Latn-AZ"/>
              <a:t>→ yalnız yayımlanmışlar</a:t>
            </a:r>
          </a:p>
          <a:p>
            <a:endParaRPr lang="az-Latn-AZ"/>
          </a:p>
          <a:p>
            <a:endParaRPr lang="az-Latn-AZ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DDBF80-3F6D-9EBE-17CA-5B313C008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422" y="2438400"/>
            <a:ext cx="5384578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358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Bu əmr Laravel installer-ini sistem üzrə qlobal olaraq quraşdırır və </a:t>
            </a:r>
            <a:r>
              <a:rPr lang="en-US" b="1">
                <a:solidFill>
                  <a:srgbClr val="FF0000"/>
                </a:solidFill>
              </a:rPr>
              <a:t>laravel new project_adı </a:t>
            </a:r>
            <a:r>
              <a:rPr lang="en-US"/>
              <a:t>əmri ilə istənilən yerdən yeni Laravel layihəsi yaratmağa imkan verir.</a:t>
            </a:r>
            <a:endParaRPr lang="az-Latn-AZ"/>
          </a:p>
          <a:p>
            <a:endParaRPr lang="az-Latn-AZ"/>
          </a:p>
          <a:p>
            <a:r>
              <a:rPr lang="az-Latn-AZ"/>
              <a:t>Bu addımları </a:t>
            </a:r>
            <a:r>
              <a:rPr lang="az-Latn-AZ" b="1"/>
              <a:t>Laragon</a:t>
            </a:r>
            <a:r>
              <a:rPr lang="az-Latn-AZ"/>
              <a:t> qovluğunda yerləşən </a:t>
            </a:r>
            <a:r>
              <a:rPr lang="en-US" b="1"/>
              <a:t>www</a:t>
            </a:r>
            <a:r>
              <a:rPr lang="en-US"/>
              <a:t> </a:t>
            </a:r>
            <a:r>
              <a:rPr lang="az-Latn-AZ"/>
              <a:t>adlı qovluğun içində edirik.</a:t>
            </a:r>
            <a:endParaRPr lang="ru-R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30E74B-42BE-7BB4-10F1-30A6F28F5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082" y="2632641"/>
            <a:ext cx="6873836" cy="1592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773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Əgər APİ yazacağıqsa onda </a:t>
            </a:r>
            <a:r>
              <a:rPr lang="az-Latn-AZ" b="1"/>
              <a:t>none</a:t>
            </a:r>
            <a:r>
              <a:rPr lang="az-Latn-AZ"/>
              <a:t> seçərək dəvam edirik.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DEF3A-9C61-1B42-7191-8F8A9505C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545" y="1741023"/>
            <a:ext cx="5646909" cy="337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9967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Bu seçimdə </a:t>
            </a:r>
            <a:r>
              <a:rPr lang="en-US" b="1"/>
              <a:t>Pest</a:t>
            </a:r>
            <a:r>
              <a:rPr lang="en-US"/>
              <a:t> test framework-u seçilir, yəni Laravel layihəsində testləri </a:t>
            </a:r>
            <a:r>
              <a:rPr lang="en-US" b="1"/>
              <a:t>daha sadə, oxunaqlı və qısa sintaksis</a:t>
            </a:r>
            <a:r>
              <a:rPr lang="en-US"/>
              <a:t>lə yazmaq üçün Pest istifadə olunacaq.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4C0EAB-C26E-CD13-8C51-1E422F14F6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493" y="1893437"/>
            <a:ext cx="5685013" cy="3071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540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Git repo yaratmırıq sonrada istəsəniz əlavə edərsiz.</a:t>
            </a:r>
          </a:p>
          <a:p>
            <a:endParaRPr lang="az-Latn-AZ"/>
          </a:p>
          <a:p>
            <a:r>
              <a:rPr lang="az-Latn-AZ"/>
              <a:t>NO dedikdən sonra uzun bir müddət gözləmək lazımdır ki, tətbiq yüklənsin.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224487-0128-DB0E-BF28-2A32E30B6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804" y="1535266"/>
            <a:ext cx="5898391" cy="378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586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Burada mən MySQL seçirəm verilənlər bazası platformu olaraq. Ancaq sonradan istəsəniz bunu dəyişmək mümkündür. Yəni çoxda vacib bir hissə deyil bura.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D7B1A3-6EB6-B614-99DC-AF24BEE37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275" y="849406"/>
            <a:ext cx="8649450" cy="5159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641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Tətbiq yaradıldıqdan sonra onu VScode ilə açırıq.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D3ECBC-1F7D-0E36-E18F-A7A044BF7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134" y="1158043"/>
            <a:ext cx="7277731" cy="4541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0792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İlkin görüntü belə olacaqdır.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8896F8-2365-DC83-67A3-FB336D53E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25" y="651269"/>
            <a:ext cx="2415749" cy="555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30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Bu əmrlə tətbiqi ayağa qaldırırıq.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71609F-5F9B-6379-2A49-7B0394EA0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854" y="2506900"/>
            <a:ext cx="4976291" cy="184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7273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Tətbiqin ilkin təsviri belədir.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255341-960E-A83E-23CB-3BEEF6363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6980"/>
            <a:ext cx="12192000" cy="606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0319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Tətbiqi işlədikcə yavaş-yavaş gitə yükləyəcəm. Sizdə belə edə bilərsiniz.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D757F3-590F-E291-A676-F4814CBB1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1814" y="1294918"/>
            <a:ext cx="5380186" cy="5563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0841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Laravel </a:t>
            </a:r>
            <a:r>
              <a:rPr lang="az-Latn-AZ"/>
              <a:t>–dəki ilk sadəc APİ routumuzu yazırıq.</a:t>
            </a:r>
          </a:p>
          <a:p>
            <a:endParaRPr lang="az-Latn-AZ"/>
          </a:p>
          <a:p>
            <a:r>
              <a:rPr lang="az-Latn-AZ"/>
              <a:t>Bu route bizə sadə JSON qaytaracaq.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AEAC97-04C1-44D8-7E2F-6C23FC34C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3" y="0"/>
            <a:ext cx="6840527" cy="54031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70A96A-13D6-5992-1D4D-457E75F30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88829"/>
            <a:ext cx="3688400" cy="1493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4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Bu əmr Laravel tətbiqinin daxilində </a:t>
            </a:r>
            <a:r>
              <a:rPr lang="en-US" b="1"/>
              <a:t>interaktiv PHP konsolu açır</a:t>
            </a:r>
            <a:r>
              <a:rPr lang="en-US"/>
              <a:t> və model, database, helper və digər Laravel funksiyalarını </a:t>
            </a:r>
            <a:r>
              <a:rPr lang="en-US" b="1"/>
              <a:t>birbaşa test etmək</a:t>
            </a:r>
            <a:r>
              <a:rPr lang="en-US"/>
              <a:t> üçün istifadə olunur.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Burada </a:t>
            </a:r>
            <a:r>
              <a:rPr lang="az-Latn-AZ"/>
              <a:t>istənilən php vs Laravel əmrlərini yaza bilərsiz.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F9DBBB-C110-FC13-A273-9EBCB5CAB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9550"/>
            <a:ext cx="6721422" cy="16003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D4048B-9EB5-6370-408D-86FD5B738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39321"/>
            <a:ext cx="6066046" cy="19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4738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Ən çox istifadə olunma məqsədlərindən biri isə DB-sə müraciət etmək üçündür. </a:t>
            </a:r>
          </a:p>
          <a:p>
            <a:endParaRPr lang="az-Latn-AZ"/>
          </a:p>
          <a:p>
            <a:r>
              <a:rPr lang="az-Latn-AZ"/>
              <a:t>Məsələn User::all() yazdıqda bu klasın hansı modelin aliası olduğunu öyrənirik. Ancaq həmdə xəta aldıq çünki hal-hazırda bir DB yoxdur və cədvəlləri migrate etməmişik.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DB yaradaq.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93E46B-F624-7DEB-27DC-3BAFD1A18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0329"/>
            <a:ext cx="11370025" cy="13717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228BA8-D4B2-7D70-934D-9A89552C2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" y="3481836"/>
            <a:ext cx="8219965" cy="330504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202928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.env </a:t>
            </a:r>
            <a:r>
              <a:rPr lang="az-Latn-AZ"/>
              <a:t> faylında DB adı default olaraq qeyd edilibdir. </a:t>
            </a:r>
          </a:p>
          <a:p>
            <a:endParaRPr lang="az-Latn-AZ"/>
          </a:p>
          <a:p>
            <a:r>
              <a:rPr lang="az-Latn-AZ"/>
              <a:t>İstəsəniz dəyişdirə bilərsiz.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EA6002-29D1-315A-1143-423CAAB99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749" y="0"/>
            <a:ext cx="528725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5981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86112A-A248-7C49-0429-052B27642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26" y="1935350"/>
            <a:ext cx="12078747" cy="298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215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Indi DB –z</a:t>
            </a:r>
            <a:r>
              <a:rPr lang="az-Latn-AZ"/>
              <a:t>ə yeni bir User əlavə edə</a:t>
            </a:r>
            <a:r>
              <a:rPr lang="en-US"/>
              <a:t> </a:t>
            </a:r>
            <a:r>
              <a:rPr lang="az-Latn-AZ"/>
              <a:t>bilərik.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0C3B63-4014-D487-701A-772B8A5A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160" y="1348263"/>
            <a:ext cx="5768840" cy="5509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6924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Yaxud mövcud istifadəçini Update edə bilərik və.s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CAACE0-F481-5BFD-CA91-D8E27CFE5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056" y="1554020"/>
            <a:ext cx="5585944" cy="530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838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Nəticə.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C81365-35D5-7C3D-20E0-5FBE7386E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3" y="1687679"/>
            <a:ext cx="12154953" cy="34826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8449042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Postman </a:t>
            </a:r>
            <a:r>
              <a:rPr lang="az-Latn-AZ"/>
              <a:t>proqramını quraşdırın və apilərin işləyib işləmədiyini test edin. </a:t>
            </a:r>
          </a:p>
          <a:p>
            <a:endParaRPr lang="az-Latn-AZ"/>
          </a:p>
          <a:p>
            <a:r>
              <a:rPr lang="az-Latn-AZ"/>
              <a:t>Header başlıqlarını yazmağı unutmayın.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9184DA-E78F-0487-875B-E80DEACA2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89022"/>
            <a:ext cx="12192000" cy="5668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5116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09B77D-5FD4-DE32-182A-00CC5982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25" y="87340"/>
            <a:ext cx="9571549" cy="668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9091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0F1B32-C72E-2003-633F-23655C977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9421" y="552200"/>
            <a:ext cx="3673158" cy="575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40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20B314-2ABC-7A20-1BAB-DDC9C84F8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863" y="1367611"/>
            <a:ext cx="9838273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8896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90EF828-66C2-0DE1-43CA-F42DBDD85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45" y="1066595"/>
            <a:ext cx="10737510" cy="4724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550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B35F36-CECD-156E-70C6-9EB46FF31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9654"/>
            <a:ext cx="12192000" cy="5838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971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İndi kontrolleri silirik...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D9BF18-AC1D-8851-15B9-DE72B9103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509" y="68289"/>
            <a:ext cx="4640982" cy="6721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8920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Və eyn ikontrolleri təkrar ancaq --api flaqını əlavə edərək yaradırıq.</a:t>
            </a:r>
            <a:br>
              <a:rPr lang="az-Latn-AZ"/>
            </a:br>
            <a:br>
              <a:rPr lang="az-Latn-AZ"/>
            </a:br>
            <a:r>
              <a:rPr lang="az-Latn-AZ"/>
              <a:t>--api əlavə edildikdə controller yalnız API üçün uyğun metodlarla (index, store, show, update, destroy) yaradılır və create / edit kimi view-ə aid metodlar daxil edilmir. Bu, controller-i daha təmiz, məqsədyönlü və RESTful API standartlarına uyğun edir.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48261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5850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7630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24637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26598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70473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25232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5557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2584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71040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65547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55630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5969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4612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980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0142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72163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0607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67681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76635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05210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59479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297180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40210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1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08041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06296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77721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11015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72474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3739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8215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622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39201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35963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779596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169744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5360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63922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39051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959894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255344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893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980663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595339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31178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13765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31168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846266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228923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78306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27536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53020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137450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646021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158492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95605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70240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505670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542044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204770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5085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993715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927505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198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77525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14258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818576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257123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278543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337488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33884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973627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21295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634298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666737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557020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10474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266588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035829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681664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34758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833417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623422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480730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670930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41089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31135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888665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15686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218347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092198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670614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413185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730920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074258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42901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144609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441661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191896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1973831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91686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28659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3151684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41609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43663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9360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946329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495711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360927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971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</TotalTime>
  <Words>1377</Words>
  <Application>Microsoft Office PowerPoint</Application>
  <PresentationFormat>Widescreen</PresentationFormat>
  <Paragraphs>319</Paragraphs>
  <Slides>147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147</vt:i4>
      </vt:variant>
    </vt:vector>
  </HeadingPairs>
  <TitlesOfParts>
    <vt:vector size="15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37</cp:revision>
  <dcterms:created xsi:type="dcterms:W3CDTF">2026-01-16T14:58:09Z</dcterms:created>
  <dcterms:modified xsi:type="dcterms:W3CDTF">2026-01-17T06:24:06Z</dcterms:modified>
</cp:coreProperties>
</file>