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74" r:id="rId16"/>
    <p:sldId id="277" r:id="rId17"/>
    <p:sldId id="275" r:id="rId18"/>
    <p:sldId id="276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7" r:id="rId109"/>
    <p:sldId id="368" r:id="rId110"/>
    <p:sldId id="369" r:id="rId111"/>
    <p:sldId id="370" r:id="rId112"/>
    <p:sldId id="371" r:id="rId113"/>
    <p:sldId id="372" r:id="rId114"/>
    <p:sldId id="373" r:id="rId115"/>
    <p:sldId id="374" r:id="rId116"/>
    <p:sldId id="375" r:id="rId117"/>
    <p:sldId id="376" r:id="rId118"/>
    <p:sldId id="377" r:id="rId119"/>
    <p:sldId id="378" r:id="rId120"/>
    <p:sldId id="379" r:id="rId121"/>
    <p:sldId id="380" r:id="rId122"/>
    <p:sldId id="381" r:id="rId123"/>
    <p:sldId id="382" r:id="rId124"/>
    <p:sldId id="383" r:id="rId125"/>
    <p:sldId id="384" r:id="rId126"/>
    <p:sldId id="385" r:id="rId127"/>
    <p:sldId id="386" r:id="rId128"/>
    <p:sldId id="387" r:id="rId129"/>
    <p:sldId id="388" r:id="rId130"/>
    <p:sldId id="389" r:id="rId131"/>
    <p:sldId id="390" r:id="rId132"/>
    <p:sldId id="391" r:id="rId133"/>
    <p:sldId id="392" r:id="rId134"/>
    <p:sldId id="393" r:id="rId135"/>
    <p:sldId id="394" r:id="rId136"/>
    <p:sldId id="395" r:id="rId137"/>
    <p:sldId id="396" r:id="rId138"/>
    <p:sldId id="397" r:id="rId139"/>
    <p:sldId id="398" r:id="rId140"/>
    <p:sldId id="399" r:id="rId141"/>
    <p:sldId id="400" r:id="rId142"/>
    <p:sldId id="401" r:id="rId143"/>
    <p:sldId id="402" r:id="rId144"/>
    <p:sldId id="269" r:id="rId145"/>
    <p:sldId id="270" r:id="rId146"/>
    <p:sldId id="271" r:id="rId147"/>
    <p:sldId id="272" r:id="rId1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8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presProps" Target="pres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4677E-545C-6B72-F57F-03DC8D209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E21A3-0EB6-9BE8-D89F-A47D90AA3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39B56-4AB6-E5F7-F3B4-DFED71C0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3FB1-0001-3CA8-8A6F-1C477F99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3F2E9-54B2-647C-2E05-957637FF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59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AFF4-BF59-4DA9-AC73-68BEE44B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0320-AD2E-3F03-315F-0AA60903A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34507-9391-ADA4-69EC-DAE31BBF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CA89C-BD56-2158-2898-DF550C2F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A231A-C12C-E0CE-BA9B-C212210A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040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5CA1-C149-B867-E6F3-BE394AC0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F6795-FAF0-C1CF-8848-75C802B62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E1679-1795-0B7F-F145-DC691B9C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F07D-5D59-733A-AFF8-CCA32938A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E1FC0-89A7-72FD-E292-4069BC5D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13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C56F-2E3E-EBD8-E1C5-550422F2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E6FE-4736-01A2-3A19-0AB77C01F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0275E-FED1-9635-E08D-B9DDA6D74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77466-070F-1C19-4273-AF59BDE9F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40C33-1CF0-655C-B1C6-E87910E2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D68AA-D568-9B10-2EC1-FD9106B5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24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1AF6-7630-6F7D-ABAA-942887C31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9259E-D87B-9A3B-B5D1-917931F65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74C44-5505-BB85-4BA4-8C2954220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5A779-1F7F-1471-ECB9-72FD49B61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F0E525-0A16-A689-0404-94C11886A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D84AB-DEC5-8135-AF1C-A212531E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E7A01-F03C-47C9-EC3F-933679CA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DE37C8-D87D-8862-BB32-6F6AE066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92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2A42-DDB8-B39E-4769-22A1B527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9FC45-1687-5F0A-63D7-93F293B2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01150-E1D6-D056-1189-A94A7020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79773-D005-DAF2-F809-44C546E1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928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91DF3-2CE5-21A5-C802-2031312C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6655A-B896-B7A4-C6C2-8EEC15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B6B56-07BB-C389-3A97-4F364EAC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27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A903-8B52-9E62-7AC5-C939D9AF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3C003-765F-399E-96F8-ED1137E3F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E467B6-8305-CD6E-6AB2-28A2EC592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1946E-B50F-F3F2-123A-A621F4031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D39EA-9CA0-123F-ADC7-C2E7D5E1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2D6DE-7D3E-621F-5B64-3C0C0CD9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88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C2726-CF64-6BEE-2E51-29D2C3AC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1CB3D-6DE3-050D-ED45-3F67D616F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3A080-00C4-22A2-92E3-FA859D46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26817-A369-6E46-5907-2C2FF91BF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873D8-C24B-940C-C154-F3849C6F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10250-F8BE-A494-5C11-49F2D802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91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5313C-2F74-C019-1208-3397A1E2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094A0-1459-131F-8762-D394600BE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0C12D-FA72-25FF-523E-7E47C1B6A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B42DB-206E-D482-EEC4-E83B918B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BF4F8-4F00-B9EB-4FE8-EB8184C7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89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6FC1C-BC9C-2707-5287-53F5FC862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0EE23-208D-348F-1080-769C9F3B0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2EB4D-24D4-64F7-17AD-DF4B2B82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CA6E-3363-2185-2378-25298FA2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C606A-43A8-F6D8-C91F-84C07E2E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20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7B8EB-17C1-522C-FE61-D4D0E6ED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3B656-56B2-0B1B-43DC-5B38F3FB6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212C4-4D5D-9B68-7303-9A64CCA98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7AD07-903B-496D-B27C-75FC5726A193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0B43D-D9B9-4860-7D07-EC89BEC3CC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1ED7-F99A-E03E-C75A-D5C6F65E02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18B5F-E941-4BA4-A82A-8DD17FEBBD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07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api/posts?sort=created_at&amp;order=desc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api/posts?author_id=3&amp;status=published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57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Laravel API üçün URL və Adlandırma Qaydaları</a:t>
            </a:r>
            <a:br>
              <a:rPr lang="az-Latn-AZ" sz="1400"/>
            </a:br>
            <a:br>
              <a:rPr lang="az-Latn-AZ" sz="1400"/>
            </a:br>
            <a:r>
              <a:rPr lang="az-Latn-AZ" sz="1400"/>
              <a:t>1) URL-lərdə kiçik hərflər və snake_case (user_profile) və ya kebab-case (user-profile) istifadə edin. </a:t>
            </a:r>
          </a:p>
          <a:p>
            <a:endParaRPr lang="az-Latn-AZ" sz="1400"/>
          </a:p>
          <a:p>
            <a:r>
              <a:rPr lang="az-Latn-AZ" sz="1400"/>
              <a:t>Çünki: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Kodun oxunaqlılığını artırır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Səhvlərin qarşısını alır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Bütün API boyunca eyni üslub istifadə edildikdə idarəsi daha asan olur</a:t>
            </a:r>
            <a:endParaRPr lang="az-Latn-AZ" sz="1400"/>
          </a:p>
          <a:p>
            <a:endParaRPr lang="az-Latn-AZ" sz="1400"/>
          </a:p>
          <a:p>
            <a:r>
              <a:rPr lang="az-Latn-AZ" sz="1400"/>
              <a:t>2) </a:t>
            </a:r>
            <a:r>
              <a:rPr lang="en-US" sz="1400"/>
              <a:t>URL-lərdə feil (verb) istifadə etməyin</a:t>
            </a:r>
            <a:r>
              <a:rPr lang="az-Latn-AZ" sz="1400"/>
              <a:t>. Məsələn:</a:t>
            </a:r>
          </a:p>
          <a:p>
            <a:pPr>
              <a:lnSpc>
                <a:spcPct val="150000"/>
              </a:lnSpc>
            </a:pPr>
            <a:r>
              <a:rPr lang="az-Latn-AZ" sz="1400"/>
              <a:t>❌ /api/getUser</a:t>
            </a:r>
          </a:p>
          <a:p>
            <a:pPr>
              <a:lnSpc>
                <a:spcPct val="150000"/>
              </a:lnSpc>
            </a:pPr>
            <a:r>
              <a:rPr lang="az-Latn-AZ" sz="1400"/>
              <a:t>✅ /api/users/{id}</a:t>
            </a:r>
            <a:br>
              <a:rPr lang="az-Latn-AZ" sz="1400"/>
            </a:br>
            <a:br>
              <a:rPr lang="az-Latn-AZ" sz="1400"/>
            </a:br>
            <a:r>
              <a:rPr lang="az-Latn-AZ" sz="1400"/>
              <a:t>3) Həmişə cəm (plural) isimlərdən istifadə edin. </a:t>
            </a:r>
            <a:r>
              <a:rPr lang="en-US" sz="1400"/>
              <a:t>Məsələn:</a:t>
            </a:r>
            <a:br>
              <a:rPr lang="az-Latn-AZ" sz="1400"/>
            </a:br>
            <a:r>
              <a:rPr lang="fi-FI" sz="1400"/>
              <a:t>❌ /api/user/1</a:t>
            </a:r>
            <a:endParaRPr lang="az-Latn-AZ" sz="1400"/>
          </a:p>
          <a:p>
            <a:pPr>
              <a:lnSpc>
                <a:spcPct val="150000"/>
              </a:lnSpc>
            </a:pPr>
            <a:r>
              <a:rPr lang="fi-FI" sz="1400"/>
              <a:t>✅ /api/users/1</a:t>
            </a:r>
          </a:p>
          <a:p>
            <a:pPr>
              <a:lnSpc>
                <a:spcPct val="150000"/>
              </a:lnSpc>
            </a:pPr>
            <a:br>
              <a:rPr lang="az-Latn-AZ" sz="1400"/>
            </a:br>
            <a:r>
              <a:rPr lang="en-US" sz="1400"/>
              <a:t>4) Aydın yollar yaradın. Məsələn:</a:t>
            </a:r>
            <a:br>
              <a:rPr lang="en-US" sz="1400"/>
            </a:br>
            <a:r>
              <a:rPr lang="en-US" sz="1400" b="1"/>
              <a:t>/api/users/{id}/posts </a:t>
            </a:r>
            <a:r>
              <a:rPr lang="en-US" sz="1400"/>
              <a:t>	         → bu URL göstərir ki, müəyyən istifadəçinin postlarıdır</a:t>
            </a:r>
          </a:p>
          <a:p>
            <a:pPr>
              <a:lnSpc>
                <a:spcPct val="150000"/>
              </a:lnSpc>
            </a:pPr>
            <a:r>
              <a:rPr lang="en-US" sz="1400" b="1"/>
              <a:t>/api/posts/{id}/comments  </a:t>
            </a:r>
            <a:r>
              <a:rPr lang="en-US" sz="1400"/>
              <a:t>→ bu URL göstərir ki, müəyyən postun şərhləridir</a:t>
            </a:r>
            <a:br>
              <a:rPr lang="en-US" sz="1400"/>
            </a:br>
            <a:endParaRPr lang="ru-RU" sz="14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6B2127-FACC-F275-B901-63C4F3EC4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412" y="2100992"/>
            <a:ext cx="4944308" cy="46554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1442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Laravel API-də Request və Response Formatı</a:t>
            </a:r>
            <a:r>
              <a:rPr lang="az-Latn-AZ" sz="1400"/>
              <a:t>:</a:t>
            </a:r>
            <a:br>
              <a:rPr lang="az-Latn-AZ" sz="1400"/>
            </a:b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z-Latn-AZ" sz="1400"/>
              <a:t>Bütün request (sorğu) və response (cavab) məlumatlarını JSON formatında göndərin və qəbul edin. JSON formatı həm oxunaqlıdır, həm də bütün proqramlaşdırma dilləri tərəfindən dəstəklənir.</a:t>
            </a:r>
            <a:br>
              <a:rPr lang="az-Latn-AZ" sz="1400"/>
            </a:br>
            <a:endParaRPr lang="az-Latn-AZ" sz="1400"/>
          </a:p>
          <a:p>
            <a:r>
              <a:rPr lang="en-US" sz="1400"/>
              <a:t>Məsələn: Request (POST)</a:t>
            </a: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 sz="1400"/>
          </a:p>
          <a:p>
            <a:r>
              <a:rPr lang="en-US" sz="1400"/>
              <a:t>Məsələn: Response (GET)</a:t>
            </a:r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r>
              <a:rPr lang="en-US" sz="1400"/>
              <a:t>API istifadəçiyə səhv baş verdikdə də aydın məlumatlar verməlidir.</a:t>
            </a:r>
            <a:r>
              <a:rPr lang="az-Latn-AZ" sz="1400"/>
              <a:t>  Məsələn:</a:t>
            </a:r>
            <a:endParaRPr lang="ru-RU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B0186-BFB2-0782-9B6B-BE0A2EF14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5430"/>
            <a:ext cx="2194560" cy="11098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E5B715-979D-C04F-7DB2-626F97F4A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893101"/>
            <a:ext cx="2194560" cy="1323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2B6B0-B176-FA2E-0473-A474E3E35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60052"/>
            <a:ext cx="2194560" cy="123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71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400"/>
              <a:t>B</a:t>
            </a:r>
            <a:r>
              <a:rPr lang="en-US" sz="1400"/>
              <a:t>əzəkli mötərizə </a:t>
            </a:r>
            <a:r>
              <a:rPr lang="en-US" sz="1400" b="1">
                <a:solidFill>
                  <a:srgbClr val="FF0000"/>
                </a:solidFill>
              </a:rPr>
              <a:t>{</a:t>
            </a:r>
            <a:r>
              <a:rPr lang="az-Latn-AZ" sz="1400" b="1">
                <a:solidFill>
                  <a:srgbClr val="FF0000"/>
                </a:solidFill>
              </a:rPr>
              <a:t> </a:t>
            </a:r>
            <a:r>
              <a:rPr lang="en-US" sz="1400" b="1">
                <a:solidFill>
                  <a:srgbClr val="FF0000"/>
                </a:solidFill>
              </a:rPr>
              <a:t>}</a:t>
            </a:r>
            <a:r>
              <a:rPr lang="en-US" sz="1400"/>
              <a:t> və kvadrat mötərizə </a:t>
            </a:r>
            <a:r>
              <a:rPr lang="en-US" sz="1400" b="1">
                <a:solidFill>
                  <a:srgbClr val="FF0000"/>
                </a:solidFill>
              </a:rPr>
              <a:t>[</a:t>
            </a:r>
            <a:r>
              <a:rPr lang="az-Latn-AZ" sz="1400" b="1">
                <a:solidFill>
                  <a:srgbClr val="FF0000"/>
                </a:solidFill>
              </a:rPr>
              <a:t> </a:t>
            </a:r>
            <a:r>
              <a:rPr lang="en-US" sz="1400" b="1">
                <a:solidFill>
                  <a:srgbClr val="FF0000"/>
                </a:solidFill>
              </a:rPr>
              <a:t>]</a:t>
            </a:r>
            <a:r>
              <a:rPr lang="en-US" sz="1400"/>
              <a:t> arasındakı fərq</a:t>
            </a:r>
            <a:endParaRPr lang="az-Latn-AZ" sz="1400"/>
          </a:p>
          <a:p>
            <a:endParaRPr lang="az-Latn-AZ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JSON-da {} obyekt (object) üçün istifadə olunur.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Obyekt açar–dəyər (key–value) cütləri saxlayır.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Hər açar string olmalıdır və dəyər string, number, boolean, array və ya başqa bir obyekt ola bilər.</a:t>
            </a:r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JSON-da [] massiv (array) üçün istifadə olunur.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Massivdə sıralı dəyərlər olur, açar yoxdur.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Dəyərlər istənilən JSON tipində ola bilər: obyekt, string, number, boolean və s.</a:t>
            </a:r>
            <a:endParaRPr lang="az-Latn-AZ" sz="1400"/>
          </a:p>
          <a:p>
            <a:endParaRPr lang="ru-RU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5654E-7BA2-EDB1-977F-62182BE18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552"/>
            <a:ext cx="2309060" cy="1097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CEEBD-A9C6-2523-1599-EF3F9E75D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4683"/>
            <a:ext cx="1684166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03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API Versioning (Versiyalaşdırma) – Niyə lazımdır?</a:t>
            </a:r>
          </a:p>
          <a:p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API zamanla inkişaf edir: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yeni sahələr əlavə olunur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mövcud struktur dəyişir</a:t>
            </a:r>
          </a:p>
          <a:p>
            <a:endParaRPr lang="en-US" sz="1600"/>
          </a:p>
          <a:p>
            <a:r>
              <a:rPr lang="az-Latn-AZ" sz="1600"/>
              <a:t>B</a:t>
            </a:r>
            <a:r>
              <a:rPr lang="en-US" sz="1600"/>
              <a:t>əzən geriyə uyğun olmayan (breaking change) dəyişikliklər edilir</a:t>
            </a:r>
          </a:p>
          <a:p>
            <a:endParaRPr lang="en-US" sz="1600"/>
          </a:p>
          <a:p>
            <a:r>
              <a:rPr lang="en-US" sz="1600"/>
              <a:t>Versioning-in məqsədi köhnə müştərilərin (clients) işləməyə davam etməsini təmin etməkdir. Yəni API dəyişsə belə, əvvəlki istifadəçilər problem yaşamır. Bu yanaşma backward compatibility qorumaq üçün vacibdir.</a:t>
            </a:r>
            <a:endParaRPr lang="az-Latn-AZ" sz="1600"/>
          </a:p>
          <a:p>
            <a:endParaRPr lang="az-Latn-AZ" sz="1600"/>
          </a:p>
          <a:p>
            <a:endParaRPr lang="az-Latn-AZ" sz="1600"/>
          </a:p>
          <a:p>
            <a:r>
              <a:rPr lang="en-US" sz="1600"/>
              <a:t>Ən sadə və aydın üsul versiyanı URL daxilində göstərməkdir:</a:t>
            </a:r>
            <a:endParaRPr lang="az-Latn-AZ" sz="1600"/>
          </a:p>
          <a:p>
            <a:endParaRPr lang="az-Latn-AZ" sz="1600"/>
          </a:p>
          <a:p>
            <a:endParaRPr lang="az-Latn-AZ" sz="1600"/>
          </a:p>
          <a:p>
            <a:endParaRPr lang="az-Latn-AZ" sz="1600"/>
          </a:p>
          <a:p>
            <a:r>
              <a:rPr lang="en-US" sz="1600"/>
              <a:t>Strategiya (Best Practice)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Keçid dövründə bir neçə versiyanı paralel dəstəkləyin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Köhnə versiyanı dərhal silməyin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API istifadəçilərinə əvvəlcədən məlumat verin (deprecate)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Müəyyən müddətdən sonra köhnə versiyanı mərhələli şəkildə bağlayın</a:t>
            </a:r>
          </a:p>
          <a:p>
            <a:endParaRPr lang="en-US" sz="1600"/>
          </a:p>
          <a:p>
            <a:r>
              <a:rPr lang="en-US" sz="1600"/>
              <a:t>Məsələn: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v1 → köhnə, stabil, lakin yeni funksiyalar yoxdur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v2 → yeni struktur və imkanlar</a:t>
            </a:r>
            <a:endParaRPr lang="ru-RU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BE8506-70AE-08DD-E1F3-56C18B41A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680" y="2969882"/>
            <a:ext cx="4338320" cy="38881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EBD0C-8884-9427-F94D-9086C856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1261"/>
            <a:ext cx="1044030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4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Statelessness (Vəziyyətsizlik Prinsipi)</a:t>
            </a:r>
            <a:endParaRPr lang="az-Latn-AZ"/>
          </a:p>
          <a:p>
            <a:endParaRPr lang="en-US"/>
          </a:p>
          <a:p>
            <a:r>
              <a:rPr lang="en-US"/>
              <a:t>Self-Contained Requests (Öz-özünü daşıyan sorğular)</a:t>
            </a:r>
          </a:p>
          <a:p>
            <a:endParaRPr lang="en-US"/>
          </a:p>
          <a:p>
            <a:r>
              <a:rPr lang="en-US"/>
              <a:t>API-yə göndərilən hər bir request onun işlənməsi üçün lazım olan bütün məlumatları özündə daşımalıdır: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authentication token (məsələn, JWT)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lazımi parametrlər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header-lər</a:t>
            </a:r>
          </a:p>
          <a:p>
            <a:endParaRPr lang="en-US"/>
          </a:p>
          <a:p>
            <a:r>
              <a:rPr lang="en-US"/>
              <a:t>Server əvvəlki request-ləri xatırlamamalıdır və onlara əsaslanmamalıdır.</a:t>
            </a:r>
          </a:p>
          <a:p>
            <a:endParaRPr lang="en-US"/>
          </a:p>
          <a:p>
            <a:r>
              <a:rPr lang="en-US"/>
              <a:t>Yəni:</a:t>
            </a:r>
            <a:r>
              <a:rPr lang="az-Latn-AZ"/>
              <a:t> </a:t>
            </a:r>
            <a:r>
              <a:rPr lang="en-US"/>
              <a:t>Server deməməlidir: “Bu istifadəçi dünən kim idi?”</a:t>
            </a:r>
            <a:r>
              <a:rPr lang="az-Latn-AZ"/>
              <a:t>  </a:t>
            </a:r>
            <a:r>
              <a:rPr lang="en-US"/>
              <a:t>Request özü deməlidir: “Mən kiməm və nə istəyirəm.”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22230-5944-8774-5A50-AC5919B1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22" y="4228872"/>
            <a:ext cx="8291278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01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6232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Server-Side Session YOX</a:t>
            </a:r>
          </a:p>
          <a:p>
            <a:endParaRPr lang="en-US" sz="1400"/>
          </a:p>
          <a:p>
            <a:r>
              <a:rPr lang="en-US" sz="1400"/>
              <a:t>REST API-lərdə: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server tərəfdə session saxlanmır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istifadəçiyə aid vəziyyət (state) serverdə tutulmur</a:t>
            </a:r>
          </a:p>
          <a:p>
            <a:endParaRPr lang="en-US" sz="1400"/>
          </a:p>
          <a:p>
            <a:r>
              <a:rPr lang="en-US" sz="1400"/>
              <a:t>Əvəzində: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Client (frontend, mobil tətbiq və s.)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Hər request ilə birlikdə JWT və ya başqa token göndərir</a:t>
            </a:r>
          </a:p>
          <a:p>
            <a:endParaRPr lang="en-US" sz="1400"/>
          </a:p>
          <a:p>
            <a:r>
              <a:rPr lang="en-US" sz="1400" b="1"/>
              <a:t>Məsələn</a:t>
            </a:r>
            <a:r>
              <a:rPr lang="en-US" sz="1400"/>
              <a:t>:</a:t>
            </a:r>
            <a:r>
              <a:rPr lang="az-Latn-AZ" sz="1400"/>
              <a:t> Authorization: Bearer eyJhbGciOiJIUzI1NiIsInR5cCI6IkpXVCJ9...</a:t>
            </a:r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r>
              <a:rPr lang="en-US" sz="1400" b="1"/>
              <a:t>Gündəlik həyat nümunəsi</a:t>
            </a:r>
            <a:r>
              <a:rPr lang="az-Latn-AZ" sz="1400" b="1"/>
              <a:t>. </a:t>
            </a:r>
            <a:r>
              <a:rPr lang="en-US" sz="1400" b="1"/>
              <a:t>Bankomatı düşün</a:t>
            </a:r>
            <a:r>
              <a:rPr lang="en-US" sz="140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Kartı salırsan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Şifrəni daxil edirsən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HƏR əməliyyatda kart + şifrə lazımdır</a:t>
            </a:r>
          </a:p>
          <a:p>
            <a:endParaRPr lang="en-US" sz="1400"/>
          </a:p>
          <a:p>
            <a:r>
              <a:rPr lang="en-US" sz="1400"/>
              <a:t>Bankomat səni yadda saxlamır ki, “bu az əvvəl </a:t>
            </a:r>
            <a:br>
              <a:rPr lang="az-Latn-AZ" sz="1400"/>
            </a:br>
            <a:r>
              <a:rPr lang="en-US" sz="1400"/>
              <a:t>gəlmişdi”.</a:t>
            </a:r>
            <a:r>
              <a:rPr lang="az-Latn-AZ" sz="1400"/>
              <a:t> </a:t>
            </a:r>
            <a:r>
              <a:rPr lang="en-US" sz="1400"/>
              <a:t>REST API də eyn</a:t>
            </a:r>
            <a:r>
              <a:rPr lang="az-Latn-AZ" sz="1400"/>
              <a:t>ən belədir</a:t>
            </a:r>
            <a:r>
              <a:rPr lang="en-US" sz="1400"/>
              <a:t>.</a:t>
            </a:r>
            <a:endParaRPr lang="ru-RU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0EA08E-1DF8-DD4C-B2A0-ACD0E4B23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22" y="4228872"/>
            <a:ext cx="8291278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89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REST API-də</a:t>
            </a:r>
            <a:r>
              <a:rPr lang="az-Latn-AZ"/>
              <a:t> də</a:t>
            </a:r>
            <a:r>
              <a:rPr lang="en-US"/>
              <a:t> server istifadəçini yadda saxlamır; hər dəfə client serverə müraciət edəndə, “mən kiməm” deyə özünü token (məsələn, JWT) ilə yenidən tanıdır.</a:t>
            </a:r>
            <a:endParaRPr lang="az-Latn-AZ"/>
          </a:p>
          <a:p>
            <a:endParaRPr lang="az-Latn-AZ"/>
          </a:p>
          <a:p>
            <a:r>
              <a:rPr lang="en-US"/>
              <a:t>Hər dəfə sorğu göndərəndə: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client deyir: “mən buyam” (JWT token)</a:t>
            </a:r>
          </a:p>
          <a:p>
            <a:endParaRPr lang="en-US"/>
          </a:p>
          <a:p>
            <a:r>
              <a:rPr lang="en-US"/>
              <a:t>Server baxır: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token düzdür → icazə verir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token yoxdursa → icazə vermir</a:t>
            </a:r>
            <a:endParaRPr lang="az-Latn-AZ"/>
          </a:p>
          <a:p>
            <a:endParaRPr lang="az-Latn-AZ"/>
          </a:p>
          <a:p>
            <a:r>
              <a:rPr lang="en-US"/>
              <a:t>REST API-də server istifadəçini yox, göndərilən token-i tanıyır.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21A4EE-FB4F-5901-EAA1-1E6E12E5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22" y="4228872"/>
            <a:ext cx="8291278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6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Niyə Stateless API daha üstündür? (Faydaları)</a:t>
            </a:r>
          </a:p>
          <a:p>
            <a:endParaRPr lang="en-US"/>
          </a:p>
          <a:p>
            <a:r>
              <a:rPr lang="en-US"/>
              <a:t>🔹 Scalability (Miqyaslana bilmə)</a:t>
            </a:r>
          </a:p>
          <a:p>
            <a:r>
              <a:rPr lang="en-US"/>
              <a:t>İstənilən server istənilən request-i emal edə bilər. Load balancer üçün idealdır.</a:t>
            </a:r>
          </a:p>
          <a:p>
            <a:endParaRPr lang="en-US"/>
          </a:p>
          <a:p>
            <a:r>
              <a:rPr lang="en-US"/>
              <a:t>🔹 Sadəlik (Simplicity)</a:t>
            </a:r>
          </a:p>
          <a:p>
            <a:r>
              <a:rPr lang="en-US"/>
              <a:t>Session yaratmaq, saxlamaq, silmək kimi əlavə yük yoxdur.</a:t>
            </a:r>
          </a:p>
          <a:p>
            <a:endParaRPr lang="en-US"/>
          </a:p>
          <a:p>
            <a:r>
              <a:rPr lang="en-US"/>
              <a:t>🔹 Caching (Keşləmə)</a:t>
            </a:r>
          </a:p>
          <a:p>
            <a:r>
              <a:rPr lang="en-US"/>
              <a:t>Eyni request eyni cavabı verdiyi üçün cavabları cache etmək daha asandır.</a:t>
            </a:r>
          </a:p>
          <a:p>
            <a:endParaRPr lang="en-US"/>
          </a:p>
          <a:p>
            <a:r>
              <a:rPr lang="en-US"/>
              <a:t>🔹 Etibarlılıq (Reliability)</a:t>
            </a:r>
          </a:p>
          <a:p>
            <a:r>
              <a:rPr lang="en-US"/>
              <a:t>Server restart olsa belə, heç bir session məlumatı itmir.</a:t>
            </a:r>
            <a:endParaRPr lang="az-Latn-AZ"/>
          </a:p>
          <a:p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572454-293D-A796-D196-BC0A43640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22" y="4228872"/>
            <a:ext cx="8291278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71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REST API-də endpoint-i çirkləndirmədən (yeni URL-lər yaratmadan) məlumatı idarə etmək üçün query parameter-lərdən istifadə edirik.</a:t>
            </a:r>
            <a:endParaRPr lang="az-Latn-AZ"/>
          </a:p>
          <a:p>
            <a:endParaRPr lang="az-Latn-AZ"/>
          </a:p>
          <a:p>
            <a:r>
              <a:rPr lang="en-US" b="1"/>
              <a:t>Pagination (Səhifələmə)</a:t>
            </a:r>
            <a:r>
              <a:rPr lang="az-Latn-AZ" b="1"/>
              <a:t> </a:t>
            </a:r>
            <a:r>
              <a:rPr lang="en-US" b="1"/>
              <a:t>Problem</a:t>
            </a:r>
            <a:r>
              <a:rPr lang="az-Latn-AZ" b="1"/>
              <a:t>i</a:t>
            </a:r>
            <a:r>
              <a:rPr lang="en-US" b="1"/>
              <a:t>:</a:t>
            </a:r>
            <a:endParaRPr lang="az-Latn-AZ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Minlərlə məlumatı bir dəfə göndərmək</a:t>
            </a:r>
            <a:r>
              <a:rPr lang="az-Latn-AZ"/>
              <a:t> həm </a:t>
            </a:r>
            <a:r>
              <a:rPr lang="en-US"/>
              <a:t>yavaşdır</a:t>
            </a:r>
            <a:r>
              <a:rPr lang="az-Latn-AZ"/>
              <a:t> həmdə </a:t>
            </a:r>
            <a:r>
              <a:rPr lang="en-US"/>
              <a:t>interneti yükləyir</a:t>
            </a:r>
            <a:r>
              <a:rPr lang="az-Latn-AZ"/>
              <a:t>.</a:t>
            </a:r>
            <a:br>
              <a:rPr lang="az-Latn-AZ"/>
            </a:br>
            <a:endParaRPr lang="en-US"/>
          </a:p>
          <a:p>
            <a:r>
              <a:rPr lang="en-US" b="1"/>
              <a:t>Həll:</a:t>
            </a:r>
            <a:endParaRPr lang="az-Latn-AZ" b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Məlumatı hissə-hissə göndəririk.</a:t>
            </a:r>
            <a:r>
              <a:rPr lang="az-Latn-AZ"/>
              <a:t> Məsələn</a:t>
            </a:r>
            <a:r>
              <a:rPr lang="en-US"/>
              <a:t>: </a:t>
            </a:r>
            <a:r>
              <a:rPr lang="en-US" b="1" i="1"/>
              <a:t>/api/posts?page=2&amp;per_page=10</a:t>
            </a:r>
            <a:endParaRPr lang="az-Latn-AZ" b="1" i="1"/>
          </a:p>
          <a:p>
            <a:endParaRPr lang="az-Latn-AZ"/>
          </a:p>
          <a:p>
            <a:r>
              <a:rPr lang="en-US" b="1"/>
              <a:t>Mənası</a:t>
            </a:r>
            <a:r>
              <a:rPr lang="en-US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page=2 </a:t>
            </a:r>
            <a:r>
              <a:rPr lang="en-US"/>
              <a:t>→ 2-ci səhifə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per_page=10 </a:t>
            </a:r>
            <a:r>
              <a:rPr lang="en-US"/>
              <a:t>→ hər səhifədə 10 məlumat</a:t>
            </a:r>
            <a:endParaRPr lang="az-Latn-AZ"/>
          </a:p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A4F28-5A84-56A1-3E51-3A94899AB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422" y="2438400"/>
            <a:ext cx="538457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6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Sorting (Sıralama)</a:t>
            </a:r>
            <a:endParaRPr lang="az-Latn-AZ"/>
          </a:p>
          <a:p>
            <a:endParaRPr lang="az-Latn-AZ"/>
          </a:p>
          <a:p>
            <a:r>
              <a:rPr lang="en-US"/>
              <a:t>Məlumatın hansı qaydada gələcəyini client özü seçsi</a:t>
            </a:r>
            <a:r>
              <a:rPr lang="az-Latn-AZ"/>
              <a:t>r</a:t>
            </a:r>
            <a:r>
              <a:rPr lang="en-US"/>
              <a:t>.</a:t>
            </a:r>
            <a:r>
              <a:rPr lang="az-Latn-AZ"/>
              <a:t> Məsələn: </a:t>
            </a:r>
            <a:r>
              <a:rPr lang="az-Latn-AZ">
                <a:hlinkClick r:id="rId2"/>
              </a:rPr>
              <a:t>http://api/posts?sort=created_at&amp;order=desc</a:t>
            </a:r>
            <a:endParaRPr lang="az-Latn-AZ"/>
          </a:p>
          <a:p>
            <a:endParaRPr lang="az-Latn-AZ"/>
          </a:p>
          <a:p>
            <a:r>
              <a:rPr lang="az-Latn-AZ"/>
              <a:t>Mənası: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b="1"/>
              <a:t>sort=created_at </a:t>
            </a:r>
            <a:r>
              <a:rPr lang="az-Latn-AZ"/>
              <a:t>→ yaradılma tarixinə görə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b="1"/>
              <a:t>order=desc </a:t>
            </a:r>
            <a:r>
              <a:rPr lang="az-Latn-AZ"/>
              <a:t>→ yenidən köhnəyə</a:t>
            </a:r>
          </a:p>
          <a:p>
            <a:endParaRPr lang="az-Latn-AZ"/>
          </a:p>
          <a:p>
            <a:endParaRPr lang="az-Latn-AZ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EA133A-FA8C-B5F2-608F-FC992D7A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422" y="2438400"/>
            <a:ext cx="538457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4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Filtering (Filtrləmə)</a:t>
            </a:r>
            <a:endParaRPr lang="az-Latn-AZ"/>
          </a:p>
          <a:p>
            <a:endParaRPr lang="az-Latn-AZ"/>
          </a:p>
          <a:p>
            <a:r>
              <a:rPr lang="en-US"/>
              <a:t>Lazımsız məlumatları yox, dəqiq axtarılanları almaq.</a:t>
            </a:r>
            <a:r>
              <a:rPr lang="az-Latn-AZ"/>
              <a:t> Məsələn: </a:t>
            </a:r>
            <a:r>
              <a:rPr lang="az-Latn-AZ">
                <a:hlinkClick r:id="rId2"/>
              </a:rPr>
              <a:t>http://api/posts?author_id=3&amp;status=published</a:t>
            </a:r>
            <a:endParaRPr lang="az-Latn-AZ"/>
          </a:p>
          <a:p>
            <a:endParaRPr lang="az-Latn-AZ"/>
          </a:p>
          <a:p>
            <a:r>
              <a:rPr lang="az-Latn-AZ"/>
              <a:t>Mənası: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b="1"/>
              <a:t>author_id=3 </a:t>
            </a:r>
            <a:r>
              <a:rPr lang="az-Latn-AZ"/>
              <a:t>→ müəllifi 3 olan postlar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b="1"/>
              <a:t>status=published </a:t>
            </a:r>
            <a:r>
              <a:rPr lang="az-Latn-AZ"/>
              <a:t>→ yalnız yayımlanmışlar</a:t>
            </a:r>
          </a:p>
          <a:p>
            <a:endParaRPr lang="az-Latn-AZ"/>
          </a:p>
          <a:p>
            <a:endParaRPr lang="az-Latn-AZ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DBF80-3F6D-9EBE-17CA-5B313C008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422" y="2438400"/>
            <a:ext cx="5384578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5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Bu əmr Laravel installer-ini sistem üzrə qlobal olaraq quraşdırır və </a:t>
            </a:r>
            <a:r>
              <a:rPr lang="en-US" b="1">
                <a:solidFill>
                  <a:srgbClr val="FF0000"/>
                </a:solidFill>
              </a:rPr>
              <a:t>laravel new project_adı </a:t>
            </a:r>
            <a:r>
              <a:rPr lang="en-US"/>
              <a:t>əmri ilə istənilən yerdən yeni Laravel layihəsi yaratmağa imkan verir.</a:t>
            </a:r>
            <a:endParaRPr lang="az-Latn-AZ"/>
          </a:p>
          <a:p>
            <a:endParaRPr lang="az-Latn-AZ"/>
          </a:p>
          <a:p>
            <a:r>
              <a:rPr lang="az-Latn-AZ"/>
              <a:t>Bu addımları </a:t>
            </a:r>
            <a:r>
              <a:rPr lang="az-Latn-AZ" b="1"/>
              <a:t>Laragon</a:t>
            </a:r>
            <a:r>
              <a:rPr lang="az-Latn-AZ"/>
              <a:t> qovluğunda yerləşən </a:t>
            </a:r>
            <a:r>
              <a:rPr lang="en-US" b="1"/>
              <a:t>www</a:t>
            </a:r>
            <a:r>
              <a:rPr lang="en-US"/>
              <a:t> </a:t>
            </a:r>
            <a:r>
              <a:rPr lang="az-Latn-AZ"/>
              <a:t>adlı qovluğun içində edirik.</a:t>
            </a:r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0E74B-42BE-7BB4-10F1-30A6F28F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082" y="2632641"/>
            <a:ext cx="6873836" cy="159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73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Əgər APİ yazacağıqsa onda </a:t>
            </a:r>
            <a:r>
              <a:rPr lang="az-Latn-AZ" b="1"/>
              <a:t>none</a:t>
            </a:r>
            <a:r>
              <a:rPr lang="az-Latn-AZ"/>
              <a:t> seçərək dəvam edirik.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DEF3A-9C61-1B42-7191-8F8A9505C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45" y="1741023"/>
            <a:ext cx="5646909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96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Bu seçimdə </a:t>
            </a:r>
            <a:r>
              <a:rPr lang="en-US" b="1"/>
              <a:t>Pest</a:t>
            </a:r>
            <a:r>
              <a:rPr lang="en-US"/>
              <a:t> test framework-u seçilir, yəni Laravel layihəsində testləri </a:t>
            </a:r>
            <a:r>
              <a:rPr lang="en-US" b="1"/>
              <a:t>daha sadə, oxunaqlı və qısa sintaksis</a:t>
            </a:r>
            <a:r>
              <a:rPr lang="en-US"/>
              <a:t>lə yazmaq üçün Pest istifadə olunacaq.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C0EAB-C26E-CD13-8C51-1E422F14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493" y="1893437"/>
            <a:ext cx="5685013" cy="307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54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Git repo yaratmırıq sonrada istəsəniz əlavə edərsiz.</a:t>
            </a:r>
          </a:p>
          <a:p>
            <a:endParaRPr lang="az-Latn-AZ"/>
          </a:p>
          <a:p>
            <a:r>
              <a:rPr lang="az-Latn-AZ"/>
              <a:t>NO dedikdən sonra uzun bir müddət gözləmək lazımdır ki, tətbiq yüklənsin.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24487-0128-DB0E-BF28-2A32E30B6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804" y="1535266"/>
            <a:ext cx="5898391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86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Burada mən MySQL seçirəm verilənlər bazası platformu olaraq. Ancaq sonradan istəsəniz bunu dəyişmək mümkündür. Yəni çoxda vacib bir hissə deyil bura.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D7B1A3-6EB6-B614-99DC-AF24BEE37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275" y="849406"/>
            <a:ext cx="8649450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41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Tətbiq yaradıldıqdan sonra onu VScode ilə açırıq.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3ECBC-1F7D-0E36-E18F-A7A044BF7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34" y="1158043"/>
            <a:ext cx="7277731" cy="45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79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İlkin görüntü belə olacaqdır.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8896F8-2365-DC83-67A3-FB336D53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125" y="651269"/>
            <a:ext cx="2415749" cy="55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3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Bu əmrlə tətbiqi ayağa qaldırırıq.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71609F-5F9B-6379-2A49-7B0394EA0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54" y="2506900"/>
            <a:ext cx="4976291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27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Tətbiqin ilkin təsviri belədir.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55341-960E-A83E-23CB-3BEEF6363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980"/>
            <a:ext cx="12192000" cy="606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31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Tətbiqi işlədikcə yavaş-yavaş gitə yükləyəcəm. Sizdə belə edə bilərsiniz.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757F3-590F-E291-A676-F4814CBB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814" y="1294918"/>
            <a:ext cx="5380186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84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Laravel </a:t>
            </a:r>
            <a:r>
              <a:rPr lang="az-Latn-AZ"/>
              <a:t>–dəki ilk sadəc APİ routumuzu yazırıq.</a:t>
            </a:r>
          </a:p>
          <a:p>
            <a:endParaRPr lang="az-Latn-AZ"/>
          </a:p>
          <a:p>
            <a:r>
              <a:rPr lang="az-Latn-AZ"/>
              <a:t>Bu route bizə sadə JSON qaytaracaq.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AEAC97-04C1-44D8-7E2F-6C23FC34C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73" y="0"/>
            <a:ext cx="6840527" cy="54031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70A96A-13D6-5992-1D4D-457E75F30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8829"/>
            <a:ext cx="3688400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Bu əmr Laravel tətbiqinin daxilində </a:t>
            </a:r>
            <a:r>
              <a:rPr lang="en-US" b="1"/>
              <a:t>interaktiv PHP konsolu açır</a:t>
            </a:r>
            <a:r>
              <a:rPr lang="en-US"/>
              <a:t> və model, database, helper və digər Laravel funksiyalarını </a:t>
            </a:r>
            <a:r>
              <a:rPr lang="en-US" b="1"/>
              <a:t>birbaşa test etmək</a:t>
            </a:r>
            <a:r>
              <a:rPr lang="en-US"/>
              <a:t> üçün istifadə olunur.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Burada </a:t>
            </a:r>
            <a:r>
              <a:rPr lang="az-Latn-AZ"/>
              <a:t>istənilən php vs Laravel əmrlərini yaza bilərsiz.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9DBBB-C110-FC13-A273-9EBCB5CAB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550"/>
            <a:ext cx="6721422" cy="16003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4048B-9EB5-6370-408D-86FD5B738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39321"/>
            <a:ext cx="6066046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7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Ən çox istifadə olunma məqsədlərindən biri isə DB-sə müraciət etmək üçündür. </a:t>
            </a:r>
          </a:p>
          <a:p>
            <a:endParaRPr lang="az-Latn-AZ"/>
          </a:p>
          <a:p>
            <a:r>
              <a:rPr lang="az-Latn-AZ"/>
              <a:t>Məsələn User::all() yazdıqda bu klasın hansı modelin aliası olduğunu öyrənirik. Ancaq həmdə xəta aldıq çünki hal-hazırda bir DB yoxdur və cədvəlləri migrate etməmişik.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DB yaradaq.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3E46B-F624-7DEB-27DC-3BAFD1A1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0329"/>
            <a:ext cx="11370025" cy="1371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228BA8-D4B2-7D70-934D-9A89552C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" y="3481836"/>
            <a:ext cx="8219965" cy="3305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20292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.env </a:t>
            </a:r>
            <a:r>
              <a:rPr lang="az-Latn-AZ"/>
              <a:t> faylında DB adı default olaraq qeyd edilibdir. </a:t>
            </a:r>
          </a:p>
          <a:p>
            <a:endParaRPr lang="az-Latn-AZ"/>
          </a:p>
          <a:p>
            <a:r>
              <a:rPr lang="az-Latn-AZ"/>
              <a:t>İstəsəniz dəyişdirə bilərsiz.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A6002-29D1-315A-1143-423CAAB99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749" y="0"/>
            <a:ext cx="5287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98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6112A-A248-7C49-0429-052B2764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6" y="1935350"/>
            <a:ext cx="12078747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215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Indi DB –z</a:t>
            </a:r>
            <a:r>
              <a:rPr lang="az-Latn-AZ"/>
              <a:t>ə yeni bir User əlavə edə</a:t>
            </a:r>
            <a:r>
              <a:rPr lang="en-US"/>
              <a:t> </a:t>
            </a:r>
            <a:r>
              <a:rPr lang="az-Latn-AZ"/>
              <a:t>bilərik.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C3B63-4014-D487-701A-772B8A5A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160" y="1348263"/>
            <a:ext cx="5768840" cy="55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92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Yaxud mövcud istifadəçini Update edə bilərik və.s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AACE0-F481-5BFD-CA91-D8E27CFE5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056" y="1554020"/>
            <a:ext cx="5585944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3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Nəticə.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81365-35D5-7C3D-20E0-5FBE7386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" y="1687679"/>
            <a:ext cx="12154953" cy="34826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4490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511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909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04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889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555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97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8920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826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85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7630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463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659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0473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523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5557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2584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104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5547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563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5969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61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980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142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2163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607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7681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6635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5210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9479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9718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0210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31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0804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6296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7721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1015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2474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3739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8215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622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9201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5963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7959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6974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5360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6392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9051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5989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5534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893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8066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9533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3117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376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168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4626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2892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8306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753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5302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3745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4602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5849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56053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70240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0567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42044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0477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5508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9371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2750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198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7752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42587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18576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57123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78543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37488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3884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73627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1295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34298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66737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57020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1047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66588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35829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8166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4758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33417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23422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80730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7093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10898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113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88665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1568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8347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92198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70614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13185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30920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7425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2901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44609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41661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9189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97383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1686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128659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15168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41609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436630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936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46329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95711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60927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B27-AF51-EA33-CB5B-65CEF3FC35E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97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1300</Words>
  <Application>Microsoft Office PowerPoint</Application>
  <PresentationFormat>Widescreen</PresentationFormat>
  <Paragraphs>317</Paragraphs>
  <Slides>147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5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34</cp:revision>
  <dcterms:created xsi:type="dcterms:W3CDTF">2026-01-16T14:58:09Z</dcterms:created>
  <dcterms:modified xsi:type="dcterms:W3CDTF">2026-01-17T05:19:40Z</dcterms:modified>
</cp:coreProperties>
</file>